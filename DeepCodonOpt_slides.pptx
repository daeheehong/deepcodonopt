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Neural codon optimizers write great DNA for expression, but ignore whether it can actually be manufactured. We ask where to put the manufacturing rules: during training or at inference.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Greedy decoding always picks each amino acid's favorite codon — maximizing CAI but producing repetitive DNA that IDT flags as hard to synthesize.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Adding a differentiable constraint loss made everything worse. Why? The penalty scores the model's probabilities, not the sequence it actually writes.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It's like lowering your test average by leaving answers blank instead of getting them right. The soft training objective and the real objective are misaligned, so minimizing the loss moves away from the goal.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Change only the decoding: sample at temperature to break repeats, and mask out illegal codons. This operates on the real sequence, so it actually reduces synthesis complexity — and at T around 0.7 to 0.8 it beats natural genes on both axes.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principle: don't relax discrete biological constraints into a training loss — enforce them on the actual sequence at decode time.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9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60520"/>
            <a:ext cx="12191695" cy="54864"/>
          </a:xfrm>
          <a:prstGeom prst="rect">
            <a:avLst/>
          </a:prstGeom>
          <a:solidFill>
            <a:srgbClr val="817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17320"/>
            <a:ext cx="10515600" cy="2743200"/>
          </a:xfrm>
          <a:prstGeom prst="rect">
            <a:avLst/>
          </a:prstGeom>
          <a:noFill/>
        </p:spPr>
        <p:txBody>
          <a:bodyPr wrap="square" anchor="t">
            <a:spAutoFit/>
          </a:bodyPr>
          <a:lstStyle/>
          <a:p>
            <a:r>
              <a:rPr sz="5200" b="1">
                <a:solidFill>
                  <a:srgbClr val="FFFFFF"/>
                </a:solidFill>
                <a:latin typeface="Calibri"/>
              </a:rPr>
              <a:t>DeepCodonOpt</a:t>
            </a:r>
          </a:p>
          <a:p>
            <a:pPr>
              <a:spcBef>
                <a:spcPts val="1000"/>
              </a:spcBef>
            </a:pPr>
            <a:r>
              <a:rPr sz="2600" b="0">
                <a:solidFill>
                  <a:srgbClr val="C8CEDC"/>
                </a:solidFill>
                <a:latin typeface="Calibri"/>
              </a:rPr>
              <a:t>Neural Codon Optimization with Biological Constraints</a:t>
            </a:r>
          </a:p>
        </p:txBody>
      </p:sp>
      <p:sp>
        <p:nvSpPr>
          <p:cNvPr id="5" name="TextBox 4"/>
          <p:cNvSpPr txBox="1"/>
          <p:nvPr/>
        </p:nvSpPr>
        <p:spPr>
          <a:xfrm>
            <a:off x="822960" y="4480560"/>
            <a:ext cx="10515600" cy="1371600"/>
          </a:xfrm>
          <a:prstGeom prst="rect">
            <a:avLst/>
          </a:prstGeom>
          <a:noFill/>
        </p:spPr>
        <p:txBody>
          <a:bodyPr wrap="square" anchor="t">
            <a:spAutoFit/>
          </a:bodyPr>
          <a:lstStyle/>
          <a:p>
            <a:r>
              <a:rPr sz="1800" b="1">
                <a:solidFill>
                  <a:srgbClr val="8172B3"/>
                </a:solidFill>
                <a:latin typeface="Calibri"/>
              </a:rPr>
              <a:t>Training-time constraint loss  vs.  inference-time constrained decoding</a:t>
            </a:r>
          </a:p>
          <a:p>
            <a:pPr>
              <a:spcBef>
                <a:spcPts val="1000"/>
              </a:spcBef>
            </a:pPr>
            <a:r>
              <a:rPr sz="1500" b="0">
                <a:solidFill>
                  <a:srgbClr val="9AA2B4"/>
                </a:solidFill>
                <a:latin typeface="Calibri"/>
              </a:rPr>
              <a:t>Isu Kim · San Kim · Hoseok Lee · Daehee Hong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817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1280160"/>
          </a:xfrm>
          <a:prstGeom prst="rect">
            <a:avLst/>
          </a:prstGeom>
          <a:noFill/>
        </p:spPr>
        <p:txBody>
          <a:bodyPr wrap="square" anchor="t">
            <a:spAutoFit/>
          </a:bodyPr>
          <a:lstStyle/>
          <a:p>
            <a:r>
              <a:rPr sz="1400" b="1">
                <a:solidFill>
                  <a:srgbClr val="8172B3"/>
                </a:solidFill>
                <a:latin typeface="Calibri"/>
              </a:rPr>
              <a:t>DIAGNOSIS</a:t>
            </a:r>
          </a:p>
          <a:p>
            <a:pPr>
              <a:spcBef>
                <a:spcPts val="200"/>
              </a:spcBef>
            </a:pPr>
            <a:r>
              <a:rPr sz="3000" b="1">
                <a:solidFill>
                  <a:srgbClr val="212939"/>
                </a:solidFill>
                <a:latin typeface="Calibri"/>
              </a:rPr>
              <a:t>Great codons, terrible to synthesize</a:t>
            </a:r>
          </a:p>
        </p:txBody>
      </p:sp>
      <p:sp>
        <p:nvSpPr>
          <p:cNvPr id="4" name="TextBox 3"/>
          <p:cNvSpPr txBox="1"/>
          <p:nvPr/>
        </p:nvSpPr>
        <p:spPr>
          <a:xfrm>
            <a:off x="640080" y="1737360"/>
            <a:ext cx="6492240" cy="4206240"/>
          </a:xfrm>
          <a:prstGeom prst="rect">
            <a:avLst/>
          </a:prstGeom>
          <a:noFill/>
        </p:spPr>
        <p:txBody>
          <a:bodyPr wrap="square" anchor="t">
            <a:spAutoFit/>
          </a:bodyPr>
          <a:lstStyle/>
          <a:p>
            <a:pPr>
              <a:spcAft>
                <a:spcPts val="1000"/>
              </a:spcAft>
            </a:pPr>
            <a:r>
              <a:rPr sz="1900" b="0">
                <a:solidFill>
                  <a:srgbClr val="212939"/>
                </a:solidFill>
                <a:latin typeface="Calibri"/>
              </a:rPr>
              <a:t>•  Scored 3,000 E. coli genes with the IDT complexity score (synthesis-difficulty index)</a:t>
            </a:r>
          </a:p>
          <a:p>
            <a:pPr>
              <a:spcAft>
                <a:spcPts val="1000"/>
              </a:spcAft>
            </a:pPr>
            <a:r>
              <a:rPr sz="1900" b="0">
                <a:solidFill>
                  <a:srgbClr val="212939"/>
                </a:solidFill>
                <a:latin typeface="Calibri"/>
              </a:rPr>
              <a:t>•  Baseline model: CAI 0.89 &gt; natural 0.74  —  codon usage is excellent…</a:t>
            </a:r>
          </a:p>
          <a:p>
            <a:pPr>
              <a:spcAft>
                <a:spcPts val="1000"/>
              </a:spcAft>
            </a:pPr>
            <a:r>
              <a:rPr sz="1900" b="0">
                <a:solidFill>
                  <a:srgbClr val="212939"/>
                </a:solidFill>
                <a:latin typeface="Calibri"/>
              </a:rPr>
              <a:t>•  …but IDT complexity 4.9 vs 1.9  —  much harder to synthesize</a:t>
            </a:r>
          </a:p>
          <a:p>
            <a:pPr>
              <a:spcAft>
                <a:spcPts val="1000"/>
              </a:spcAft>
            </a:pPr>
            <a:r>
              <a:rPr sz="1900" b="0">
                <a:solidFill>
                  <a:srgbClr val="212939"/>
                </a:solidFill>
                <a:latin typeface="Calibri"/>
              </a:rPr>
              <a:t>•  Cause is one issue: Overall Repeat  24% → 61%</a:t>
            </a:r>
          </a:p>
        </p:txBody>
      </p:sp>
      <p:graphicFrame>
        <p:nvGraphicFramePr>
          <p:cNvPr id="5" name="Table 4"/>
          <p:cNvGraphicFramePr>
            <a:graphicFrameLocks noGrp="1"/>
          </p:cNvGraphicFramePr>
          <p:nvPr/>
        </p:nvGraphicFramePr>
        <p:xfrm>
          <a:off x="7406640" y="2286000"/>
          <a:ext cx="4206240" cy="2194560"/>
        </p:xfrm>
        <a:graphic>
          <a:graphicData uri="http://schemas.openxmlformats.org/drawingml/2006/table">
            <a:tbl>
              <a:tblPr firstRow="1" bandRow="1">
                <a:tableStyleId>{5C22544A-7EE6-4342-B048-85BDC9FD1C3A}</a:tableStyleId>
              </a:tblPr>
              <a:tblGrid>
                <a:gridCol w="1051560"/>
                <a:gridCol w="1051560"/>
                <a:gridCol w="1051560"/>
                <a:gridCol w="1051560"/>
              </a:tblGrid>
              <a:tr h="548640">
                <a:tc>
                  <a:txBody>
                    <a:bodyPr/>
                    <a:lstStyle/>
                    <a:p>
                      <a:pPr algn="l"/>
                      <a:r>
                        <a:rPr sz="1500" b="1">
                          <a:solidFill>
                            <a:srgbClr val="FFFFFF"/>
                          </a:solidFill>
                          <a:latin typeface="Calibri"/>
                        </a:rPr>
                        <a:t/>
                      </a:r>
                    </a:p>
                  </a:txBody>
                  <a:tcPr anchor="ctr" marT="38100" marB="38100" marL="101600" marR="101600">
                    <a:solidFill>
                      <a:srgbClr val="212939"/>
                    </a:solidFill>
                  </a:tcPr>
                </a:tc>
                <a:tc>
                  <a:txBody>
                    <a:bodyPr/>
                    <a:lstStyle/>
                    <a:p>
                      <a:pPr algn="ctr"/>
                      <a:r>
                        <a:rPr sz="1500" b="1">
                          <a:solidFill>
                            <a:srgbClr val="FFFFFF"/>
                          </a:solidFill>
                          <a:latin typeface="Calibri"/>
                        </a:rPr>
                        <a:t>complexity</a:t>
                      </a:r>
                    </a:p>
                  </a:txBody>
                  <a:tcPr anchor="ctr" marT="38100" marB="38100" marL="101600" marR="101600">
                    <a:solidFill>
                      <a:srgbClr val="212939"/>
                    </a:solidFill>
                  </a:tcPr>
                </a:tc>
                <a:tc>
                  <a:txBody>
                    <a:bodyPr/>
                    <a:lstStyle/>
                    <a:p>
                      <a:pPr algn="ctr"/>
                      <a:r>
                        <a:rPr sz="1500" b="1">
                          <a:solidFill>
                            <a:srgbClr val="FFFFFF"/>
                          </a:solidFill>
                          <a:latin typeface="Calibri"/>
                        </a:rPr>
                        <a:t>CAI</a:t>
                      </a:r>
                    </a:p>
                  </a:txBody>
                  <a:tcPr anchor="ctr" marT="38100" marB="38100" marL="101600" marR="101600">
                    <a:solidFill>
                      <a:srgbClr val="212939"/>
                    </a:solidFill>
                  </a:tcPr>
                </a:tc>
                <a:tc>
                  <a:txBody>
                    <a:bodyPr/>
                    <a:lstStyle/>
                    <a:p>
                      <a:pPr algn="ctr"/>
                      <a:r>
                        <a:rPr sz="1500" b="1">
                          <a:solidFill>
                            <a:srgbClr val="FFFFFF"/>
                          </a:solidFill>
                          <a:latin typeface="Calibri"/>
                        </a:rPr>
                        <a:t>Overall Rep.</a:t>
                      </a:r>
                    </a:p>
                  </a:txBody>
                  <a:tcPr anchor="ctr" marT="38100" marB="38100" marL="101600" marR="101600">
                    <a:solidFill>
                      <a:srgbClr val="212939"/>
                    </a:solidFill>
                  </a:tcPr>
                </a:tc>
              </a:tr>
              <a:tr h="548640">
                <a:tc>
                  <a:txBody>
                    <a:bodyPr/>
                    <a:lstStyle/>
                    <a:p>
                      <a:pPr algn="l"/>
                      <a:r>
                        <a:rPr sz="1500">
                          <a:solidFill>
                            <a:srgbClr val="212939"/>
                          </a:solidFill>
                          <a:latin typeface="Calibri"/>
                        </a:rPr>
                        <a:t>Natural</a:t>
                      </a:r>
                    </a:p>
                  </a:txBody>
                  <a:tcPr anchor="ctr" marT="38100" marB="38100" marL="101600" marR="101600">
                    <a:solidFill>
                      <a:srgbClr val="FFFFFF"/>
                    </a:solidFill>
                  </a:tcPr>
                </a:tc>
                <a:tc>
                  <a:txBody>
                    <a:bodyPr/>
                    <a:lstStyle/>
                    <a:p>
                      <a:pPr algn="ctr"/>
                      <a:r>
                        <a:rPr sz="1500">
                          <a:solidFill>
                            <a:srgbClr val="212939"/>
                          </a:solidFill>
                          <a:latin typeface="Calibri"/>
                        </a:rPr>
                        <a:t>1.91</a:t>
                      </a:r>
                    </a:p>
                  </a:txBody>
                  <a:tcPr anchor="ctr" marT="38100" marB="38100" marL="101600" marR="101600">
                    <a:solidFill>
                      <a:srgbClr val="FFFFFF"/>
                    </a:solidFill>
                  </a:tcPr>
                </a:tc>
                <a:tc>
                  <a:txBody>
                    <a:bodyPr/>
                    <a:lstStyle/>
                    <a:p>
                      <a:pPr algn="ctr"/>
                      <a:r>
                        <a:rPr sz="1500">
                          <a:solidFill>
                            <a:srgbClr val="212939"/>
                          </a:solidFill>
                          <a:latin typeface="Calibri"/>
                        </a:rPr>
                        <a:t>0.735</a:t>
                      </a:r>
                    </a:p>
                  </a:txBody>
                  <a:tcPr anchor="ctr" marT="38100" marB="38100" marL="101600" marR="101600">
                    <a:solidFill>
                      <a:srgbClr val="FFFFFF"/>
                    </a:solidFill>
                  </a:tcPr>
                </a:tc>
                <a:tc>
                  <a:txBody>
                    <a:bodyPr/>
                    <a:lstStyle/>
                    <a:p>
                      <a:pPr algn="ctr"/>
                      <a:r>
                        <a:rPr sz="1500">
                          <a:solidFill>
                            <a:srgbClr val="212939"/>
                          </a:solidFill>
                          <a:latin typeface="Calibri"/>
                        </a:rPr>
                        <a:t>23.7%</a:t>
                      </a:r>
                    </a:p>
                  </a:txBody>
                  <a:tcPr anchor="ctr" marT="38100" marB="38100" marL="101600" marR="101600">
                    <a:solidFill>
                      <a:srgbClr val="FFFFFF"/>
                    </a:solidFill>
                  </a:tcPr>
                </a:tc>
              </a:tr>
              <a:tr h="548640">
                <a:tc>
                  <a:txBody>
                    <a:bodyPr/>
                    <a:lstStyle/>
                    <a:p>
                      <a:pPr algn="l"/>
                      <a:r>
                        <a:rPr sz="1500" b="1">
                          <a:solidFill>
                            <a:srgbClr val="C44E52"/>
                          </a:solidFill>
                          <a:latin typeface="Calibri"/>
                        </a:rPr>
                        <a:t>Baseline (FT)</a:t>
                      </a:r>
                    </a:p>
                  </a:txBody>
                  <a:tcPr anchor="ctr" marT="38100" marB="38100" marL="101600" marR="101600">
                    <a:solidFill>
                      <a:srgbClr val="ECE8F6"/>
                    </a:solidFill>
                  </a:tcPr>
                </a:tc>
                <a:tc>
                  <a:txBody>
                    <a:bodyPr/>
                    <a:lstStyle/>
                    <a:p>
                      <a:pPr algn="ctr"/>
                      <a:r>
                        <a:rPr sz="1500" b="1">
                          <a:solidFill>
                            <a:srgbClr val="C44E52"/>
                          </a:solidFill>
                          <a:latin typeface="Calibri"/>
                        </a:rPr>
                        <a:t>4.91</a:t>
                      </a:r>
                    </a:p>
                  </a:txBody>
                  <a:tcPr anchor="ctr" marT="38100" marB="38100" marL="101600" marR="101600">
                    <a:solidFill>
                      <a:srgbClr val="ECE8F6"/>
                    </a:solidFill>
                  </a:tcPr>
                </a:tc>
                <a:tc>
                  <a:txBody>
                    <a:bodyPr/>
                    <a:lstStyle/>
                    <a:p>
                      <a:pPr algn="ctr"/>
                      <a:r>
                        <a:rPr sz="1500" b="1">
                          <a:solidFill>
                            <a:srgbClr val="C44E52"/>
                          </a:solidFill>
                          <a:latin typeface="Calibri"/>
                        </a:rPr>
                        <a:t>0.888</a:t>
                      </a:r>
                    </a:p>
                  </a:txBody>
                  <a:tcPr anchor="ctr" marT="38100" marB="38100" marL="101600" marR="101600">
                    <a:solidFill>
                      <a:srgbClr val="ECE8F6"/>
                    </a:solidFill>
                  </a:tcPr>
                </a:tc>
                <a:tc>
                  <a:txBody>
                    <a:bodyPr/>
                    <a:lstStyle/>
                    <a:p>
                      <a:pPr algn="ctr"/>
                      <a:r>
                        <a:rPr sz="1500" b="1">
                          <a:solidFill>
                            <a:srgbClr val="C44E52"/>
                          </a:solidFill>
                          <a:latin typeface="Calibri"/>
                        </a:rPr>
                        <a:t>60.8%</a:t>
                      </a:r>
                    </a:p>
                  </a:txBody>
                  <a:tcPr anchor="ctr" marT="38100" marB="38100" marL="101600" marR="101600">
                    <a:solidFill>
                      <a:srgbClr val="ECE8F6"/>
                    </a:solidFill>
                  </a:tcPr>
                </a:tc>
              </a:tr>
              <a:tr h="548640">
                <a:tc>
                  <a:txBody>
                    <a:bodyPr/>
                    <a:lstStyle/>
                    <a:p>
                      <a:pPr algn="l"/>
                      <a:r>
                        <a:rPr sz="1500">
                          <a:solidFill>
                            <a:srgbClr val="212939"/>
                          </a:solidFill>
                          <a:latin typeface="Calibri"/>
                        </a:rPr>
                        <a:t>Pretrained</a:t>
                      </a:r>
                    </a:p>
                  </a:txBody>
                  <a:tcPr anchor="ctr" marT="38100" marB="38100" marL="101600" marR="101600">
                    <a:solidFill>
                      <a:srgbClr val="FFFFFF"/>
                    </a:solidFill>
                  </a:tcPr>
                </a:tc>
                <a:tc>
                  <a:txBody>
                    <a:bodyPr/>
                    <a:lstStyle/>
                    <a:p>
                      <a:pPr algn="ctr"/>
                      <a:r>
                        <a:rPr sz="1500">
                          <a:solidFill>
                            <a:srgbClr val="212939"/>
                          </a:solidFill>
                          <a:latin typeface="Calibri"/>
                        </a:rPr>
                        <a:t>6.63</a:t>
                      </a:r>
                    </a:p>
                  </a:txBody>
                  <a:tcPr anchor="ctr" marT="38100" marB="38100" marL="101600" marR="101600">
                    <a:solidFill>
                      <a:srgbClr val="FFFFFF"/>
                    </a:solidFill>
                  </a:tcPr>
                </a:tc>
                <a:tc>
                  <a:txBody>
                    <a:bodyPr/>
                    <a:lstStyle/>
                    <a:p>
                      <a:pPr algn="ctr"/>
                      <a:r>
                        <a:rPr sz="1500">
                          <a:solidFill>
                            <a:srgbClr val="212939"/>
                          </a:solidFill>
                          <a:latin typeface="Calibri"/>
                        </a:rPr>
                        <a:t>0.885</a:t>
                      </a:r>
                    </a:p>
                  </a:txBody>
                  <a:tcPr anchor="ctr" marT="38100" marB="38100" marL="101600" marR="101600">
                    <a:solidFill>
                      <a:srgbClr val="FFFFFF"/>
                    </a:solidFill>
                  </a:tcPr>
                </a:tc>
                <a:tc>
                  <a:txBody>
                    <a:bodyPr/>
                    <a:lstStyle/>
                    <a:p>
                      <a:pPr algn="ctr"/>
                      <a:r>
                        <a:rPr sz="1500">
                          <a:solidFill>
                            <a:srgbClr val="212939"/>
                          </a:solidFill>
                          <a:latin typeface="Calibri"/>
                        </a:rPr>
                        <a:t>63.9%</a:t>
                      </a:r>
                    </a:p>
                  </a:txBody>
                  <a:tcPr anchor="ctr" marT="38100" marB="38100" marL="101600" marR="101600">
                    <a:solidFill>
                      <a:srgbClr val="FFFFFF"/>
                    </a:solidFill>
                  </a:tcPr>
                </a:tc>
              </a:tr>
            </a:tbl>
          </a:graphicData>
        </a:graphic>
      </p:graphicFrame>
      <p:sp>
        <p:nvSpPr>
          <p:cNvPr id="6" name="Rectangle 5"/>
          <p:cNvSpPr/>
          <p:nvPr/>
        </p:nvSpPr>
        <p:spPr>
          <a:xfrm>
            <a:off x="640080" y="5760720"/>
            <a:ext cx="10881360" cy="685800"/>
          </a:xfrm>
          <a:prstGeom prst="rect">
            <a:avLst/>
          </a:prstGeom>
          <a:solidFill>
            <a:srgbClr val="ECE8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a:lstStyle/>
          <a:p>
            <a:pPr algn="ctr"/>
            <a:r>
              <a:rPr sz="1800" b="1">
                <a:solidFill>
                  <a:srgbClr val="8172B3"/>
                </a:solidFill>
                <a:latin typeface="Calibri"/>
              </a:rPr>
              <a:t>Greedy decoding repeats each amino acid's favorite codon → repetitive DNA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C44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1280160"/>
          </a:xfrm>
          <a:prstGeom prst="rect">
            <a:avLst/>
          </a:prstGeom>
          <a:noFill/>
        </p:spPr>
        <p:txBody>
          <a:bodyPr wrap="square" anchor="t">
            <a:spAutoFit/>
          </a:bodyPr>
          <a:lstStyle/>
          <a:p>
            <a:r>
              <a:rPr sz="1400" b="1">
                <a:solidFill>
                  <a:srgbClr val="C44E52"/>
                </a:solidFill>
                <a:latin typeface="Calibri"/>
              </a:rPr>
              <a:t>METHOD A — TRAINING-TIME</a:t>
            </a:r>
          </a:p>
          <a:p>
            <a:pPr>
              <a:spcBef>
                <a:spcPts val="200"/>
              </a:spcBef>
            </a:pPr>
            <a:r>
              <a:rPr sz="3000" b="1">
                <a:solidFill>
                  <a:srgbClr val="212939"/>
                </a:solidFill>
                <a:latin typeface="Calibri"/>
              </a:rPr>
              <a:t>Add a constraint loss → it backfires</a:t>
            </a:r>
          </a:p>
        </p:txBody>
      </p:sp>
      <p:sp>
        <p:nvSpPr>
          <p:cNvPr id="4" name="TextBox 3"/>
          <p:cNvSpPr txBox="1"/>
          <p:nvPr/>
        </p:nvSpPr>
        <p:spPr>
          <a:xfrm>
            <a:off x="640080" y="1737360"/>
            <a:ext cx="6492240" cy="4206240"/>
          </a:xfrm>
          <a:prstGeom prst="rect">
            <a:avLst/>
          </a:prstGeom>
          <a:noFill/>
        </p:spPr>
        <p:txBody>
          <a:bodyPr wrap="square" anchor="t">
            <a:spAutoFit/>
          </a:bodyPr>
          <a:lstStyle/>
          <a:p>
            <a:pPr>
              <a:spcAft>
                <a:spcPts val="1000"/>
              </a:spcAft>
            </a:pPr>
            <a:r>
              <a:rPr sz="1900" b="0">
                <a:solidFill>
                  <a:srgbClr val="212939"/>
                </a:solidFill>
                <a:latin typeface="Calibri"/>
              </a:rPr>
              <a:t>•  Loss = MLM + λ · (repeat/GC penalty on the model's soft distribution)</a:t>
            </a:r>
          </a:p>
          <a:p>
            <a:pPr>
              <a:spcAft>
                <a:spcPts val="1000"/>
              </a:spcAft>
            </a:pPr>
            <a:r>
              <a:rPr sz="1900" b="0">
                <a:solidFill>
                  <a:srgbClr val="212939"/>
                </a:solidFill>
                <a:latin typeface="Calibri"/>
              </a:rPr>
              <a:t>•  Result: complexity 4.9 → 9.3,  CAI 0.89 → 0.43</a:t>
            </a:r>
          </a:p>
          <a:p>
            <a:pPr>
              <a:spcAft>
                <a:spcPts val="1000"/>
              </a:spcAft>
            </a:pPr>
            <a:r>
              <a:rPr sz="1900" b="0">
                <a:solidFill>
                  <a:srgbClr val="212939"/>
                </a:solidFill>
                <a:latin typeface="Calibri"/>
              </a:rPr>
              <a:t>•  Breakdown: GC issues → 0%, but Overall Repeat 61% → 80%</a:t>
            </a:r>
          </a:p>
          <a:p>
            <a:pPr lvl="1">
              <a:spcAft>
                <a:spcPts val="1000"/>
              </a:spcAft>
            </a:pPr>
            <a:r>
              <a:rPr sz="1700" b="0">
                <a:solidFill>
                  <a:srgbClr val="555B68"/>
                </a:solidFill>
                <a:latin typeface="Calibri"/>
              </a:rPr>
              <a:t>–  It traded one issue for a much worse one</a:t>
            </a:r>
          </a:p>
        </p:txBody>
      </p:sp>
      <p:graphicFrame>
        <p:nvGraphicFramePr>
          <p:cNvPr id="5" name="Table 4"/>
          <p:cNvGraphicFramePr>
            <a:graphicFrameLocks noGrp="1"/>
          </p:cNvGraphicFramePr>
          <p:nvPr/>
        </p:nvGraphicFramePr>
        <p:xfrm>
          <a:off x="7406640" y="2377440"/>
          <a:ext cx="4206240" cy="1737360"/>
        </p:xfrm>
        <a:graphic>
          <a:graphicData uri="http://schemas.openxmlformats.org/drawingml/2006/table">
            <a:tbl>
              <a:tblPr firstRow="1" bandRow="1">
                <a:tableStyleId>{5C22544A-7EE6-4342-B048-85BDC9FD1C3A}</a:tableStyleId>
              </a:tblPr>
              <a:tblGrid>
                <a:gridCol w="1051560"/>
                <a:gridCol w="1051560"/>
                <a:gridCol w="1051560"/>
                <a:gridCol w="1051560"/>
              </a:tblGrid>
              <a:tr h="579120">
                <a:tc>
                  <a:txBody>
                    <a:bodyPr/>
                    <a:lstStyle/>
                    <a:p>
                      <a:pPr algn="l"/>
                      <a:r>
                        <a:rPr sz="1500" b="1">
                          <a:solidFill>
                            <a:srgbClr val="FFFFFF"/>
                          </a:solidFill>
                          <a:latin typeface="Calibri"/>
                        </a:rPr>
                        <a:t/>
                      </a:r>
                    </a:p>
                  </a:txBody>
                  <a:tcPr anchor="ctr" marT="38100" marB="38100" marL="101600" marR="101600">
                    <a:solidFill>
                      <a:srgbClr val="212939"/>
                    </a:solidFill>
                  </a:tcPr>
                </a:tc>
                <a:tc>
                  <a:txBody>
                    <a:bodyPr/>
                    <a:lstStyle/>
                    <a:p>
                      <a:pPr algn="ctr"/>
                      <a:r>
                        <a:rPr sz="1500" b="1">
                          <a:solidFill>
                            <a:srgbClr val="FFFFFF"/>
                          </a:solidFill>
                          <a:latin typeface="Calibri"/>
                        </a:rPr>
                        <a:t>complexity</a:t>
                      </a:r>
                    </a:p>
                  </a:txBody>
                  <a:tcPr anchor="ctr" marT="38100" marB="38100" marL="101600" marR="101600">
                    <a:solidFill>
                      <a:srgbClr val="212939"/>
                    </a:solidFill>
                  </a:tcPr>
                </a:tc>
                <a:tc>
                  <a:txBody>
                    <a:bodyPr/>
                    <a:lstStyle/>
                    <a:p>
                      <a:pPr algn="ctr"/>
                      <a:r>
                        <a:rPr sz="1500" b="1">
                          <a:solidFill>
                            <a:srgbClr val="FFFFFF"/>
                          </a:solidFill>
                          <a:latin typeface="Calibri"/>
                        </a:rPr>
                        <a:t>CAI</a:t>
                      </a:r>
                    </a:p>
                  </a:txBody>
                  <a:tcPr anchor="ctr" marT="38100" marB="38100" marL="101600" marR="101600">
                    <a:solidFill>
                      <a:srgbClr val="212939"/>
                    </a:solidFill>
                  </a:tcPr>
                </a:tc>
                <a:tc>
                  <a:txBody>
                    <a:bodyPr/>
                    <a:lstStyle/>
                    <a:p>
                      <a:pPr algn="ctr"/>
                      <a:r>
                        <a:rPr sz="1500" b="1">
                          <a:solidFill>
                            <a:srgbClr val="FFFFFF"/>
                          </a:solidFill>
                          <a:latin typeface="Calibri"/>
                        </a:rPr>
                        <a:t>Overall Rep.</a:t>
                      </a:r>
                    </a:p>
                  </a:txBody>
                  <a:tcPr anchor="ctr" marT="38100" marB="38100" marL="101600" marR="101600">
                    <a:solidFill>
                      <a:srgbClr val="212939"/>
                    </a:solidFill>
                  </a:tcPr>
                </a:tc>
              </a:tr>
              <a:tr h="579120">
                <a:tc>
                  <a:txBody>
                    <a:bodyPr/>
                    <a:lstStyle/>
                    <a:p>
                      <a:pPr algn="l"/>
                      <a:r>
                        <a:rPr sz="1500">
                          <a:solidFill>
                            <a:srgbClr val="212939"/>
                          </a:solidFill>
                          <a:latin typeface="Calibri"/>
                        </a:rPr>
                        <a:t>Baseline</a:t>
                      </a:r>
                    </a:p>
                  </a:txBody>
                  <a:tcPr anchor="ctr" marT="38100" marB="38100" marL="101600" marR="101600">
                    <a:solidFill>
                      <a:srgbClr val="FFFFFF"/>
                    </a:solidFill>
                  </a:tcPr>
                </a:tc>
                <a:tc>
                  <a:txBody>
                    <a:bodyPr/>
                    <a:lstStyle/>
                    <a:p>
                      <a:pPr algn="ctr"/>
                      <a:r>
                        <a:rPr sz="1500">
                          <a:solidFill>
                            <a:srgbClr val="212939"/>
                          </a:solidFill>
                          <a:latin typeface="Calibri"/>
                        </a:rPr>
                        <a:t>4.91</a:t>
                      </a:r>
                    </a:p>
                  </a:txBody>
                  <a:tcPr anchor="ctr" marT="38100" marB="38100" marL="101600" marR="101600">
                    <a:solidFill>
                      <a:srgbClr val="FFFFFF"/>
                    </a:solidFill>
                  </a:tcPr>
                </a:tc>
                <a:tc>
                  <a:txBody>
                    <a:bodyPr/>
                    <a:lstStyle/>
                    <a:p>
                      <a:pPr algn="ctr"/>
                      <a:r>
                        <a:rPr sz="1500">
                          <a:solidFill>
                            <a:srgbClr val="212939"/>
                          </a:solidFill>
                          <a:latin typeface="Calibri"/>
                        </a:rPr>
                        <a:t>0.888</a:t>
                      </a:r>
                    </a:p>
                  </a:txBody>
                  <a:tcPr anchor="ctr" marT="38100" marB="38100" marL="101600" marR="101600">
                    <a:solidFill>
                      <a:srgbClr val="FFFFFF"/>
                    </a:solidFill>
                  </a:tcPr>
                </a:tc>
                <a:tc>
                  <a:txBody>
                    <a:bodyPr/>
                    <a:lstStyle/>
                    <a:p>
                      <a:pPr algn="ctr"/>
                      <a:r>
                        <a:rPr sz="1500">
                          <a:solidFill>
                            <a:srgbClr val="212939"/>
                          </a:solidFill>
                          <a:latin typeface="Calibri"/>
                        </a:rPr>
                        <a:t>60.8%</a:t>
                      </a:r>
                    </a:p>
                  </a:txBody>
                  <a:tcPr anchor="ctr" marT="38100" marB="38100" marL="101600" marR="101600">
                    <a:solidFill>
                      <a:srgbClr val="FFFFFF"/>
                    </a:solidFill>
                  </a:tcPr>
                </a:tc>
              </a:tr>
              <a:tr h="579120">
                <a:tc>
                  <a:txBody>
                    <a:bodyPr/>
                    <a:lstStyle/>
                    <a:p>
                      <a:pPr algn="l"/>
                      <a:r>
                        <a:rPr sz="1500" b="1">
                          <a:solidFill>
                            <a:srgbClr val="C44E52"/>
                          </a:solidFill>
                          <a:latin typeface="Calibri"/>
                        </a:rPr>
                        <a:t>Method A</a:t>
                      </a:r>
                    </a:p>
                  </a:txBody>
                  <a:tcPr anchor="ctr" marT="38100" marB="38100" marL="101600" marR="101600">
                    <a:solidFill>
                      <a:srgbClr val="ECE8F6"/>
                    </a:solidFill>
                  </a:tcPr>
                </a:tc>
                <a:tc>
                  <a:txBody>
                    <a:bodyPr/>
                    <a:lstStyle/>
                    <a:p>
                      <a:pPr algn="ctr"/>
                      <a:r>
                        <a:rPr sz="1500" b="1">
                          <a:solidFill>
                            <a:srgbClr val="C44E52"/>
                          </a:solidFill>
                          <a:latin typeface="Calibri"/>
                        </a:rPr>
                        <a:t>9.32</a:t>
                      </a:r>
                    </a:p>
                  </a:txBody>
                  <a:tcPr anchor="ctr" marT="38100" marB="38100" marL="101600" marR="101600">
                    <a:solidFill>
                      <a:srgbClr val="ECE8F6"/>
                    </a:solidFill>
                  </a:tcPr>
                </a:tc>
                <a:tc>
                  <a:txBody>
                    <a:bodyPr/>
                    <a:lstStyle/>
                    <a:p>
                      <a:pPr algn="ctr"/>
                      <a:r>
                        <a:rPr sz="1500" b="1">
                          <a:solidFill>
                            <a:srgbClr val="C44E52"/>
                          </a:solidFill>
                          <a:latin typeface="Calibri"/>
                        </a:rPr>
                        <a:t>0.426</a:t>
                      </a:r>
                    </a:p>
                  </a:txBody>
                  <a:tcPr anchor="ctr" marT="38100" marB="38100" marL="101600" marR="101600">
                    <a:solidFill>
                      <a:srgbClr val="ECE8F6"/>
                    </a:solidFill>
                  </a:tcPr>
                </a:tc>
                <a:tc>
                  <a:txBody>
                    <a:bodyPr/>
                    <a:lstStyle/>
                    <a:p>
                      <a:pPr algn="ctr"/>
                      <a:r>
                        <a:rPr sz="1500" b="1">
                          <a:solidFill>
                            <a:srgbClr val="C44E52"/>
                          </a:solidFill>
                          <a:latin typeface="Calibri"/>
                        </a:rPr>
                        <a:t>79.7%</a:t>
                      </a:r>
                    </a:p>
                  </a:txBody>
                  <a:tcPr anchor="ctr" marT="38100" marB="38100" marL="101600" marR="101600">
                    <a:solidFill>
                      <a:srgbClr val="ECE8F6"/>
                    </a:solidFill>
                  </a:tcPr>
                </a:tc>
              </a:tr>
            </a:tbl>
          </a:graphicData>
        </a:graphic>
      </p:graphicFrame>
      <p:sp>
        <p:nvSpPr>
          <p:cNvPr id="6" name="Rectangle 5"/>
          <p:cNvSpPr/>
          <p:nvPr/>
        </p:nvSpPr>
        <p:spPr>
          <a:xfrm>
            <a:off x="7406640" y="4480560"/>
            <a:ext cx="4206240" cy="685800"/>
          </a:xfrm>
          <a:prstGeom prst="rect">
            <a:avLst/>
          </a:prstGeom>
          <a:solidFill>
            <a:srgbClr val="FA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a:lstStyle/>
          <a:p>
            <a:pPr algn="ctr"/>
            <a:r>
              <a:rPr sz="1800" b="1">
                <a:solidFill>
                  <a:srgbClr val="C44E52"/>
                </a:solidFill>
                <a:latin typeface="Calibri"/>
              </a:rPr>
              <a:t>Every λ ∈ {1,3,10,30} gave the same result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C44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1280160"/>
          </a:xfrm>
          <a:prstGeom prst="rect">
            <a:avLst/>
          </a:prstGeom>
          <a:noFill/>
        </p:spPr>
        <p:txBody>
          <a:bodyPr wrap="square" anchor="t">
            <a:spAutoFit/>
          </a:bodyPr>
          <a:lstStyle/>
          <a:p>
            <a:r>
              <a:rPr sz="1400" b="1">
                <a:solidFill>
                  <a:srgbClr val="C44E52"/>
                </a:solidFill>
                <a:latin typeface="Calibri"/>
              </a:rPr>
              <a:t>METHOD A — WHY IT FAILS</a:t>
            </a:r>
          </a:p>
          <a:p>
            <a:pPr>
              <a:spcBef>
                <a:spcPts val="200"/>
              </a:spcBef>
            </a:pPr>
            <a:r>
              <a:rPr sz="3000" b="1">
                <a:solidFill>
                  <a:srgbClr val="212939"/>
                </a:solidFill>
                <a:latin typeface="Calibri"/>
              </a:rPr>
              <a:t>The loss measures the wrong thing</a:t>
            </a:r>
          </a:p>
        </p:txBody>
      </p:sp>
      <p:sp>
        <p:nvSpPr>
          <p:cNvPr id="4" name="TextBox 3"/>
          <p:cNvSpPr txBox="1"/>
          <p:nvPr/>
        </p:nvSpPr>
        <p:spPr>
          <a:xfrm>
            <a:off x="640080" y="1828800"/>
            <a:ext cx="10881360" cy="2743200"/>
          </a:xfrm>
          <a:prstGeom prst="rect">
            <a:avLst/>
          </a:prstGeom>
          <a:noFill/>
        </p:spPr>
        <p:txBody>
          <a:bodyPr wrap="square" anchor="t">
            <a:spAutoFit/>
          </a:bodyPr>
          <a:lstStyle/>
          <a:p>
            <a:pPr>
              <a:spcAft>
                <a:spcPts val="1000"/>
              </a:spcAft>
            </a:pPr>
            <a:r>
              <a:rPr sz="2000" b="0">
                <a:solidFill>
                  <a:srgbClr val="212939"/>
                </a:solidFill>
                <a:latin typeface="Calibri"/>
              </a:rPr>
              <a:t>•  The penalty acts on the probability distribution, not the emitted sequence</a:t>
            </a:r>
          </a:p>
          <a:p>
            <a:pPr>
              <a:spcAft>
                <a:spcPts val="1000"/>
              </a:spcAft>
            </a:pPr>
            <a:r>
              <a:rPr sz="2000" b="0">
                <a:solidFill>
                  <a:srgbClr val="212939"/>
                </a:solidFill>
                <a:latin typeface="Calibri"/>
              </a:rPr>
              <a:t>•  The model satisfies it by flattening its distribution (→ rare codons)…</a:t>
            </a:r>
          </a:p>
          <a:p>
            <a:pPr lvl="1">
              <a:spcAft>
                <a:spcPts val="1000"/>
              </a:spcAft>
            </a:pPr>
            <a:r>
              <a:rPr sz="1800" b="0">
                <a:solidFill>
                  <a:srgbClr val="555B68"/>
                </a:solidFill>
                <a:latin typeface="Calibri"/>
              </a:rPr>
              <a:t>–  …at ≈ zero MLM cost, so λ doesn't matter</a:t>
            </a:r>
          </a:p>
          <a:p>
            <a:pPr>
              <a:spcAft>
                <a:spcPts val="1000"/>
              </a:spcAft>
            </a:pPr>
            <a:r>
              <a:rPr sz="2000" b="0">
                <a:solidFill>
                  <a:srgbClr val="212939"/>
                </a:solidFill>
                <a:latin typeface="Calibri"/>
              </a:rPr>
              <a:t>•  But the decoded DNA is unchanged or worse — surrogate ≠ objective</a:t>
            </a:r>
          </a:p>
        </p:txBody>
      </p:sp>
      <p:sp>
        <p:nvSpPr>
          <p:cNvPr id="5" name="Rectangle 4"/>
          <p:cNvSpPr/>
          <p:nvPr/>
        </p:nvSpPr>
        <p:spPr>
          <a:xfrm>
            <a:off x="640080" y="4937760"/>
            <a:ext cx="10881360" cy="914400"/>
          </a:xfrm>
          <a:prstGeom prst="rect">
            <a:avLst/>
          </a:prstGeom>
          <a:solidFill>
            <a:srgbClr val="ECE8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a:lstStyle/>
          <a:p>
            <a:pPr algn="ctr"/>
            <a:r>
              <a:rPr sz="1800" b="1">
                <a:solidFill>
                  <a:srgbClr val="8172B3"/>
                </a:solidFill>
                <a:latin typeface="Calibri"/>
              </a:rPr>
              <a:t>Like lowering your test average by leaving answers blank, not by getting them right.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817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1280160"/>
          </a:xfrm>
          <a:prstGeom prst="rect">
            <a:avLst/>
          </a:prstGeom>
          <a:noFill/>
        </p:spPr>
        <p:txBody>
          <a:bodyPr wrap="square" anchor="t">
            <a:spAutoFit/>
          </a:bodyPr>
          <a:lstStyle/>
          <a:p>
            <a:r>
              <a:rPr sz="1400" b="1">
                <a:solidFill>
                  <a:srgbClr val="8172B3"/>
                </a:solidFill>
                <a:latin typeface="Calibri"/>
              </a:rPr>
              <a:t>METHOD B — INFERENCE-TIME</a:t>
            </a:r>
          </a:p>
          <a:p>
            <a:pPr>
              <a:spcBef>
                <a:spcPts val="200"/>
              </a:spcBef>
            </a:pPr>
            <a:r>
              <a:rPr sz="3000" b="1">
                <a:solidFill>
                  <a:srgbClr val="212939"/>
                </a:solidFill>
                <a:latin typeface="Calibri"/>
              </a:rPr>
              <a:t>Constrained temperature decoding → it works</a:t>
            </a:r>
          </a:p>
        </p:txBody>
      </p:sp>
      <p:sp>
        <p:nvSpPr>
          <p:cNvPr id="4" name="TextBox 3"/>
          <p:cNvSpPr txBox="1"/>
          <p:nvPr/>
        </p:nvSpPr>
        <p:spPr>
          <a:xfrm>
            <a:off x="640080" y="1737360"/>
            <a:ext cx="6400800" cy="4206240"/>
          </a:xfrm>
          <a:prstGeom prst="rect">
            <a:avLst/>
          </a:prstGeom>
          <a:noFill/>
        </p:spPr>
        <p:txBody>
          <a:bodyPr wrap="square" anchor="t">
            <a:spAutoFit/>
          </a:bodyPr>
          <a:lstStyle/>
          <a:p>
            <a:pPr>
              <a:spcAft>
                <a:spcPts val="1000"/>
              </a:spcAft>
            </a:pPr>
            <a:r>
              <a:rPr sz="1900" b="0">
                <a:solidFill>
                  <a:srgbClr val="212939"/>
                </a:solidFill>
                <a:latin typeface="Calibri"/>
              </a:rPr>
              <a:t>•  Temperature  P(c) ∝ exp(z/T):  diversifies codons → breaks repeats</a:t>
            </a:r>
          </a:p>
          <a:p>
            <a:pPr>
              <a:spcAft>
                <a:spcPts val="1000"/>
              </a:spcAft>
            </a:pPr>
            <a:r>
              <a:rPr sz="1900" b="0">
                <a:solidFill>
                  <a:srgbClr val="212939"/>
                </a:solidFill>
                <a:latin typeface="Calibri"/>
              </a:rPr>
              <a:t>•  Masking: delete codons that form restriction sites / homopolymers</a:t>
            </a:r>
          </a:p>
          <a:p>
            <a:pPr>
              <a:spcAft>
                <a:spcPts val="1000"/>
              </a:spcAft>
            </a:pPr>
            <a:r>
              <a:rPr sz="1900" b="0">
                <a:solidFill>
                  <a:srgbClr val="212939"/>
                </a:solidFill>
                <a:latin typeface="Calibri"/>
              </a:rPr>
              <a:t>•  Sweep T → clean Pareto; knee at T ≈ 0.7–0.8</a:t>
            </a:r>
          </a:p>
          <a:p>
            <a:pPr lvl="1">
              <a:spcAft>
                <a:spcPts val="1000"/>
              </a:spcAft>
            </a:pPr>
            <a:r>
              <a:rPr sz="1700" b="0">
                <a:solidFill>
                  <a:srgbClr val="555B68"/>
                </a:solidFill>
                <a:latin typeface="Calibri"/>
              </a:rPr>
              <a:t>–  beats natural on BOTH axes (complexity 1.6 &lt; 1.9, CAI 0.78 &gt; 0.74)</a:t>
            </a:r>
          </a:p>
        </p:txBody>
      </p:sp>
      <p:graphicFrame>
        <p:nvGraphicFramePr>
          <p:cNvPr id="5" name="Table 4"/>
          <p:cNvGraphicFramePr>
            <a:graphicFrameLocks noGrp="1"/>
          </p:cNvGraphicFramePr>
          <p:nvPr/>
        </p:nvGraphicFramePr>
        <p:xfrm>
          <a:off x="7315200" y="1783080"/>
          <a:ext cx="4297680" cy="3017514"/>
        </p:xfrm>
        <a:graphic>
          <a:graphicData uri="http://schemas.openxmlformats.org/drawingml/2006/table">
            <a:tbl>
              <a:tblPr firstRow="1" bandRow="1">
                <a:tableStyleId>{5C22544A-7EE6-4342-B048-85BDC9FD1C3A}</a:tableStyleId>
              </a:tblPr>
              <a:tblGrid>
                <a:gridCol w="1074420"/>
                <a:gridCol w="1074420"/>
                <a:gridCol w="1074420"/>
                <a:gridCol w="1074420"/>
              </a:tblGrid>
              <a:tr h="502919">
                <a:tc>
                  <a:txBody>
                    <a:bodyPr/>
                    <a:lstStyle/>
                    <a:p>
                      <a:pPr algn="l"/>
                      <a:r>
                        <a:rPr sz="1500" b="1">
                          <a:solidFill>
                            <a:srgbClr val="FFFFFF"/>
                          </a:solidFill>
                          <a:latin typeface="Calibri"/>
                        </a:rPr>
                        <a:t>T</a:t>
                      </a:r>
                    </a:p>
                  </a:txBody>
                  <a:tcPr anchor="ctr" marT="38100" marB="38100" marL="101600" marR="101600">
                    <a:solidFill>
                      <a:srgbClr val="212939"/>
                    </a:solidFill>
                  </a:tcPr>
                </a:tc>
                <a:tc>
                  <a:txBody>
                    <a:bodyPr/>
                    <a:lstStyle/>
                    <a:p>
                      <a:pPr algn="ctr"/>
                      <a:r>
                        <a:rPr sz="1500" b="1">
                          <a:solidFill>
                            <a:srgbClr val="FFFFFF"/>
                          </a:solidFill>
                          <a:latin typeface="Calibri"/>
                        </a:rPr>
                        <a:t>CAI</a:t>
                      </a:r>
                    </a:p>
                  </a:txBody>
                  <a:tcPr anchor="ctr" marT="38100" marB="38100" marL="101600" marR="101600">
                    <a:solidFill>
                      <a:srgbClr val="212939"/>
                    </a:solidFill>
                  </a:tcPr>
                </a:tc>
                <a:tc>
                  <a:txBody>
                    <a:bodyPr/>
                    <a:lstStyle/>
                    <a:p>
                      <a:pPr algn="ctr"/>
                      <a:r>
                        <a:rPr sz="1500" b="1">
                          <a:solidFill>
                            <a:srgbClr val="FFFFFF"/>
                          </a:solidFill>
                          <a:latin typeface="Calibri"/>
                        </a:rPr>
                        <a:t>complexity</a:t>
                      </a:r>
                    </a:p>
                  </a:txBody>
                  <a:tcPr anchor="ctr" marT="38100" marB="38100" marL="101600" marR="101600">
                    <a:solidFill>
                      <a:srgbClr val="212939"/>
                    </a:solidFill>
                  </a:tcPr>
                </a:tc>
                <a:tc>
                  <a:txBody>
                    <a:bodyPr/>
                    <a:lstStyle/>
                    <a:p>
                      <a:pPr algn="ctr"/>
                      <a:r>
                        <a:rPr sz="1500" b="1">
                          <a:solidFill>
                            <a:srgbClr val="FFFFFF"/>
                          </a:solidFill>
                          <a:latin typeface="Calibri"/>
                        </a:rPr>
                        <a:t>Overall Rep.</a:t>
                      </a:r>
                    </a:p>
                  </a:txBody>
                  <a:tcPr anchor="ctr" marT="38100" marB="38100" marL="101600" marR="101600">
                    <a:solidFill>
                      <a:srgbClr val="212939"/>
                    </a:solidFill>
                  </a:tcPr>
                </a:tc>
              </a:tr>
              <a:tr h="502919">
                <a:tc>
                  <a:txBody>
                    <a:bodyPr/>
                    <a:lstStyle/>
                    <a:p>
                      <a:pPr algn="l"/>
                      <a:r>
                        <a:rPr sz="1500">
                          <a:solidFill>
                            <a:srgbClr val="212939"/>
                          </a:solidFill>
                          <a:latin typeface="Calibri"/>
                        </a:rPr>
                        <a:t>natural</a:t>
                      </a:r>
                    </a:p>
                  </a:txBody>
                  <a:tcPr anchor="ctr" marT="38100" marB="38100" marL="101600" marR="101600">
                    <a:solidFill>
                      <a:srgbClr val="FFFFFF"/>
                    </a:solidFill>
                  </a:tcPr>
                </a:tc>
                <a:tc>
                  <a:txBody>
                    <a:bodyPr/>
                    <a:lstStyle/>
                    <a:p>
                      <a:pPr algn="ctr"/>
                      <a:r>
                        <a:rPr sz="1500">
                          <a:solidFill>
                            <a:srgbClr val="212939"/>
                          </a:solidFill>
                          <a:latin typeface="Calibri"/>
                        </a:rPr>
                        <a:t>0.735</a:t>
                      </a:r>
                    </a:p>
                  </a:txBody>
                  <a:tcPr anchor="ctr" marT="38100" marB="38100" marL="101600" marR="101600">
                    <a:solidFill>
                      <a:srgbClr val="FFFFFF"/>
                    </a:solidFill>
                  </a:tcPr>
                </a:tc>
                <a:tc>
                  <a:txBody>
                    <a:bodyPr/>
                    <a:lstStyle/>
                    <a:p>
                      <a:pPr algn="ctr"/>
                      <a:r>
                        <a:rPr sz="1500">
                          <a:solidFill>
                            <a:srgbClr val="212939"/>
                          </a:solidFill>
                          <a:latin typeface="Calibri"/>
                        </a:rPr>
                        <a:t>1.91</a:t>
                      </a:r>
                    </a:p>
                  </a:txBody>
                  <a:tcPr anchor="ctr" marT="38100" marB="38100" marL="101600" marR="101600">
                    <a:solidFill>
                      <a:srgbClr val="FFFFFF"/>
                    </a:solidFill>
                  </a:tcPr>
                </a:tc>
                <a:tc>
                  <a:txBody>
                    <a:bodyPr/>
                    <a:lstStyle/>
                    <a:p>
                      <a:pPr algn="ctr"/>
                      <a:r>
                        <a:rPr sz="1500">
                          <a:solidFill>
                            <a:srgbClr val="212939"/>
                          </a:solidFill>
                          <a:latin typeface="Calibri"/>
                        </a:rPr>
                        <a:t>23.7%</a:t>
                      </a:r>
                    </a:p>
                  </a:txBody>
                  <a:tcPr anchor="ctr" marT="38100" marB="38100" marL="101600" marR="101600">
                    <a:solidFill>
                      <a:srgbClr val="FFFFFF"/>
                    </a:solidFill>
                  </a:tcPr>
                </a:tc>
              </a:tr>
              <a:tr h="502919">
                <a:tc>
                  <a:txBody>
                    <a:bodyPr/>
                    <a:lstStyle/>
                    <a:p>
                      <a:pPr algn="l"/>
                      <a:r>
                        <a:rPr sz="1500">
                          <a:solidFill>
                            <a:srgbClr val="212939"/>
                          </a:solidFill>
                          <a:latin typeface="Calibri"/>
                        </a:rPr>
                        <a:t>0.5</a:t>
                      </a:r>
                    </a:p>
                  </a:txBody>
                  <a:tcPr anchor="ctr" marT="38100" marB="38100" marL="101600" marR="101600">
                    <a:solidFill>
                      <a:srgbClr val="F1F2F6"/>
                    </a:solidFill>
                  </a:tcPr>
                </a:tc>
                <a:tc>
                  <a:txBody>
                    <a:bodyPr/>
                    <a:lstStyle/>
                    <a:p>
                      <a:pPr algn="ctr"/>
                      <a:r>
                        <a:rPr sz="1500">
                          <a:solidFill>
                            <a:srgbClr val="212939"/>
                          </a:solidFill>
                          <a:latin typeface="Calibri"/>
                        </a:rPr>
                        <a:t>0.812</a:t>
                      </a:r>
                    </a:p>
                  </a:txBody>
                  <a:tcPr anchor="ctr" marT="38100" marB="38100" marL="101600" marR="101600">
                    <a:solidFill>
                      <a:srgbClr val="F1F2F6"/>
                    </a:solidFill>
                  </a:tcPr>
                </a:tc>
                <a:tc>
                  <a:txBody>
                    <a:bodyPr/>
                    <a:lstStyle/>
                    <a:p>
                      <a:pPr algn="ctr"/>
                      <a:r>
                        <a:rPr sz="1500">
                          <a:solidFill>
                            <a:srgbClr val="212939"/>
                          </a:solidFill>
                          <a:latin typeface="Calibri"/>
                        </a:rPr>
                        <a:t>2.20</a:t>
                      </a:r>
                    </a:p>
                  </a:txBody>
                  <a:tcPr anchor="ctr" marT="38100" marB="38100" marL="101600" marR="101600">
                    <a:solidFill>
                      <a:srgbClr val="F1F2F6"/>
                    </a:solidFill>
                  </a:tcPr>
                </a:tc>
                <a:tc>
                  <a:txBody>
                    <a:bodyPr/>
                    <a:lstStyle/>
                    <a:p>
                      <a:pPr algn="ctr"/>
                      <a:r>
                        <a:rPr sz="1500">
                          <a:solidFill>
                            <a:srgbClr val="212939"/>
                          </a:solidFill>
                          <a:latin typeface="Calibri"/>
                        </a:rPr>
                        <a:t>32.6%</a:t>
                      </a:r>
                    </a:p>
                  </a:txBody>
                  <a:tcPr anchor="ctr" marT="38100" marB="38100" marL="101600" marR="101600">
                    <a:solidFill>
                      <a:srgbClr val="F1F2F6"/>
                    </a:solidFill>
                  </a:tcPr>
                </a:tc>
              </a:tr>
              <a:tr h="502919">
                <a:tc>
                  <a:txBody>
                    <a:bodyPr/>
                    <a:lstStyle/>
                    <a:p>
                      <a:pPr algn="l"/>
                      <a:r>
                        <a:rPr sz="1500" b="1">
                          <a:solidFill>
                            <a:srgbClr val="8172B3"/>
                          </a:solidFill>
                          <a:latin typeface="Calibri"/>
                        </a:rPr>
                        <a:t>0.7</a:t>
                      </a:r>
                    </a:p>
                  </a:txBody>
                  <a:tcPr anchor="ctr" marT="38100" marB="38100" marL="101600" marR="101600">
                    <a:solidFill>
                      <a:srgbClr val="ECE8F6"/>
                    </a:solidFill>
                  </a:tcPr>
                </a:tc>
                <a:tc>
                  <a:txBody>
                    <a:bodyPr/>
                    <a:lstStyle/>
                    <a:p>
                      <a:pPr algn="ctr"/>
                      <a:r>
                        <a:rPr sz="1500" b="1">
                          <a:solidFill>
                            <a:srgbClr val="8172B3"/>
                          </a:solidFill>
                          <a:latin typeface="Calibri"/>
                        </a:rPr>
                        <a:t>0.781</a:t>
                      </a:r>
                    </a:p>
                  </a:txBody>
                  <a:tcPr anchor="ctr" marT="38100" marB="38100" marL="101600" marR="101600">
                    <a:solidFill>
                      <a:srgbClr val="ECE8F6"/>
                    </a:solidFill>
                  </a:tcPr>
                </a:tc>
                <a:tc>
                  <a:txBody>
                    <a:bodyPr/>
                    <a:lstStyle/>
                    <a:p>
                      <a:pPr algn="ctr"/>
                      <a:r>
                        <a:rPr sz="1500" b="1">
                          <a:solidFill>
                            <a:srgbClr val="8172B3"/>
                          </a:solidFill>
                          <a:latin typeface="Calibri"/>
                        </a:rPr>
                        <a:t>1.59</a:t>
                      </a:r>
                    </a:p>
                  </a:txBody>
                  <a:tcPr anchor="ctr" marT="38100" marB="38100" marL="101600" marR="101600">
                    <a:solidFill>
                      <a:srgbClr val="ECE8F6"/>
                    </a:solidFill>
                  </a:tcPr>
                </a:tc>
                <a:tc>
                  <a:txBody>
                    <a:bodyPr/>
                    <a:lstStyle/>
                    <a:p>
                      <a:pPr algn="ctr"/>
                      <a:r>
                        <a:rPr sz="1500" b="1">
                          <a:solidFill>
                            <a:srgbClr val="8172B3"/>
                          </a:solidFill>
                          <a:latin typeface="Calibri"/>
                        </a:rPr>
                        <a:t>23.9%</a:t>
                      </a:r>
                    </a:p>
                  </a:txBody>
                  <a:tcPr anchor="ctr" marT="38100" marB="38100" marL="101600" marR="101600">
                    <a:solidFill>
                      <a:srgbClr val="ECE8F6"/>
                    </a:solidFill>
                  </a:tcPr>
                </a:tc>
              </a:tr>
              <a:tr h="502919">
                <a:tc>
                  <a:txBody>
                    <a:bodyPr/>
                    <a:lstStyle/>
                    <a:p>
                      <a:pPr algn="l"/>
                      <a:r>
                        <a:rPr sz="1500" b="1">
                          <a:solidFill>
                            <a:srgbClr val="8172B3"/>
                          </a:solidFill>
                          <a:latin typeface="Calibri"/>
                        </a:rPr>
                        <a:t>0.8</a:t>
                      </a:r>
                    </a:p>
                  </a:txBody>
                  <a:tcPr anchor="ctr" marT="38100" marB="38100" marL="101600" marR="101600">
                    <a:solidFill>
                      <a:srgbClr val="ECE8F6"/>
                    </a:solidFill>
                  </a:tcPr>
                </a:tc>
                <a:tc>
                  <a:txBody>
                    <a:bodyPr/>
                    <a:lstStyle/>
                    <a:p>
                      <a:pPr algn="ctr"/>
                      <a:r>
                        <a:rPr sz="1500" b="1">
                          <a:solidFill>
                            <a:srgbClr val="8172B3"/>
                          </a:solidFill>
                          <a:latin typeface="Calibri"/>
                        </a:rPr>
                        <a:t>0.767</a:t>
                      </a:r>
                    </a:p>
                  </a:txBody>
                  <a:tcPr anchor="ctr" marT="38100" marB="38100" marL="101600" marR="101600">
                    <a:solidFill>
                      <a:srgbClr val="ECE8F6"/>
                    </a:solidFill>
                  </a:tcPr>
                </a:tc>
                <a:tc>
                  <a:txBody>
                    <a:bodyPr/>
                    <a:lstStyle/>
                    <a:p>
                      <a:pPr algn="ctr"/>
                      <a:r>
                        <a:rPr sz="1500" b="1">
                          <a:solidFill>
                            <a:srgbClr val="8172B3"/>
                          </a:solidFill>
                          <a:latin typeface="Calibri"/>
                        </a:rPr>
                        <a:t>1.41</a:t>
                      </a:r>
                    </a:p>
                  </a:txBody>
                  <a:tcPr anchor="ctr" marT="38100" marB="38100" marL="101600" marR="101600">
                    <a:solidFill>
                      <a:srgbClr val="ECE8F6"/>
                    </a:solidFill>
                  </a:tcPr>
                </a:tc>
                <a:tc>
                  <a:txBody>
                    <a:bodyPr/>
                    <a:lstStyle/>
                    <a:p>
                      <a:pPr algn="ctr"/>
                      <a:r>
                        <a:rPr sz="1500" b="1">
                          <a:solidFill>
                            <a:srgbClr val="8172B3"/>
                          </a:solidFill>
                          <a:latin typeface="Calibri"/>
                        </a:rPr>
                        <a:t>21.3%</a:t>
                      </a:r>
                    </a:p>
                  </a:txBody>
                  <a:tcPr anchor="ctr" marT="38100" marB="38100" marL="101600" marR="101600">
                    <a:solidFill>
                      <a:srgbClr val="ECE8F6"/>
                    </a:solidFill>
                  </a:tcPr>
                </a:tc>
              </a:tr>
              <a:tr h="502919">
                <a:tc>
                  <a:txBody>
                    <a:bodyPr/>
                    <a:lstStyle/>
                    <a:p>
                      <a:pPr algn="l"/>
                      <a:r>
                        <a:rPr sz="1500">
                          <a:solidFill>
                            <a:srgbClr val="212939"/>
                          </a:solidFill>
                          <a:latin typeface="Calibri"/>
                        </a:rPr>
                        <a:t>1.0</a:t>
                      </a:r>
                    </a:p>
                  </a:txBody>
                  <a:tcPr anchor="ctr" marT="38100" marB="38100" marL="101600" marR="101600">
                    <a:solidFill>
                      <a:srgbClr val="FFFFFF"/>
                    </a:solidFill>
                  </a:tcPr>
                </a:tc>
                <a:tc>
                  <a:txBody>
                    <a:bodyPr/>
                    <a:lstStyle/>
                    <a:p>
                      <a:pPr algn="ctr"/>
                      <a:r>
                        <a:rPr sz="1500">
                          <a:solidFill>
                            <a:srgbClr val="212939"/>
                          </a:solidFill>
                          <a:latin typeface="Calibri"/>
                        </a:rPr>
                        <a:t>0.748</a:t>
                      </a:r>
                    </a:p>
                  </a:txBody>
                  <a:tcPr anchor="ctr" marT="38100" marB="38100" marL="101600" marR="101600">
                    <a:solidFill>
                      <a:srgbClr val="FFFFFF"/>
                    </a:solidFill>
                  </a:tcPr>
                </a:tc>
                <a:tc>
                  <a:txBody>
                    <a:bodyPr/>
                    <a:lstStyle/>
                    <a:p>
                      <a:pPr algn="ctr"/>
                      <a:r>
                        <a:rPr sz="1500">
                          <a:solidFill>
                            <a:srgbClr val="212939"/>
                          </a:solidFill>
                          <a:latin typeface="Calibri"/>
                        </a:rPr>
                        <a:t>1.18</a:t>
                      </a:r>
                    </a:p>
                  </a:txBody>
                  <a:tcPr anchor="ctr" marT="38100" marB="38100" marL="101600" marR="101600">
                    <a:solidFill>
                      <a:srgbClr val="FFFFFF"/>
                    </a:solidFill>
                  </a:tcPr>
                </a:tc>
                <a:tc>
                  <a:txBody>
                    <a:bodyPr/>
                    <a:lstStyle/>
                    <a:p>
                      <a:pPr algn="ctr"/>
                      <a:r>
                        <a:rPr sz="1500">
                          <a:solidFill>
                            <a:srgbClr val="212939"/>
                          </a:solidFill>
                          <a:latin typeface="Calibri"/>
                        </a:rPr>
                        <a:t>17.4%</a:t>
                      </a:r>
                    </a:p>
                  </a:txBody>
                  <a:tcPr anchor="ctr" marT="38100" marB="38100" marL="101600" marR="101600">
                    <a:solidFill>
                      <a:srgbClr val="FFFFFF"/>
                    </a:solidFill>
                  </a:tcPr>
                </a:tc>
              </a:tr>
            </a:tbl>
          </a:graphicData>
        </a:graphic>
      </p:graphicFrame>
      <p:sp>
        <p:nvSpPr>
          <p:cNvPr id="6" name="Rectangle 5"/>
          <p:cNvSpPr/>
          <p:nvPr/>
        </p:nvSpPr>
        <p:spPr>
          <a:xfrm>
            <a:off x="640080" y="5806440"/>
            <a:ext cx="10881360" cy="640080"/>
          </a:xfrm>
          <a:prstGeom prst="rect">
            <a:avLst/>
          </a:prstGeom>
          <a:solidFill>
            <a:srgbClr val="ECE8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a:lstStyle/>
          <a:p>
            <a:pPr algn="ctr"/>
            <a:r>
              <a:rPr sz="1800" b="1">
                <a:solidFill>
                  <a:srgbClr val="8172B3"/>
                </a:solidFill>
                <a:latin typeface="Calibri"/>
              </a:rPr>
              <a:t>Temperature is the driver; masking is the guarantee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9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97480"/>
            <a:ext cx="12191695" cy="54864"/>
          </a:xfrm>
          <a:prstGeom prst="rect">
            <a:avLst/>
          </a:prstGeom>
          <a:solidFill>
            <a:srgbClr val="817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822960"/>
            <a:ext cx="10515600" cy="1828800"/>
          </a:xfrm>
          <a:prstGeom prst="rect">
            <a:avLst/>
          </a:prstGeom>
          <a:noFill/>
        </p:spPr>
        <p:txBody>
          <a:bodyPr wrap="square" anchor="t">
            <a:spAutoFit/>
          </a:bodyPr>
          <a:lstStyle/>
          <a:p>
            <a:r>
              <a:rPr sz="2200" b="1">
                <a:solidFill>
                  <a:srgbClr val="8172B3"/>
                </a:solidFill>
                <a:latin typeface="Calibri"/>
              </a:rPr>
              <a:t>Takeaway</a:t>
            </a:r>
          </a:p>
          <a:p>
            <a:pPr>
              <a:spcBef>
                <a:spcPts val="800"/>
              </a:spcBef>
            </a:pPr>
            <a:r>
              <a:rPr sz="3000" b="1">
                <a:solidFill>
                  <a:srgbClr val="FFFFFF"/>
                </a:solidFill>
                <a:latin typeface="Calibri"/>
              </a:rPr>
              <a:t>Discrete constraints belong on the discrete output, at decode time.</a:t>
            </a:r>
          </a:p>
        </p:txBody>
      </p:sp>
      <p:sp>
        <p:nvSpPr>
          <p:cNvPr id="5" name="TextBox 4"/>
          <p:cNvSpPr txBox="1"/>
          <p:nvPr/>
        </p:nvSpPr>
        <p:spPr>
          <a:xfrm>
            <a:off x="822960" y="3017520"/>
            <a:ext cx="10515600" cy="2743200"/>
          </a:xfrm>
          <a:prstGeom prst="rect">
            <a:avLst/>
          </a:prstGeom>
          <a:noFill/>
        </p:spPr>
        <p:txBody>
          <a:bodyPr wrap="square" anchor="t">
            <a:spAutoFit/>
          </a:bodyPr>
          <a:lstStyle/>
          <a:p>
            <a:pPr>
              <a:spcAft>
                <a:spcPts val="1200"/>
              </a:spcAft>
            </a:pPr>
            <a:r>
              <a:rPr sz="1900" b="0">
                <a:solidFill>
                  <a:srgbClr val="D6DBE6"/>
                </a:solidFill>
                <a:latin typeface="Calibri"/>
              </a:rPr>
              <a:t>•  Training-time soft loss → gameable, backfires (4.9 → 9.3)</a:t>
            </a:r>
          </a:p>
          <a:p>
            <a:pPr>
              <a:spcAft>
                <a:spcPts val="1200"/>
              </a:spcAft>
            </a:pPr>
            <a:r>
              <a:rPr sz="1900" b="0">
                <a:solidFill>
                  <a:srgbClr val="D6DBE6"/>
                </a:solidFill>
                <a:latin typeface="Calibri"/>
              </a:rPr>
              <a:t>•  Inference-time masking + temperature → exact + effective, surpasses natural</a:t>
            </a:r>
          </a:p>
          <a:p>
            <a:pPr>
              <a:spcAft>
                <a:spcPts val="1200"/>
              </a:spcAft>
            </a:pPr>
            <a:r>
              <a:rPr sz="1900" b="0">
                <a:solidFill>
                  <a:srgbClr val="D6DBE6"/>
                </a:solidFill>
                <a:latin typeface="Calibri"/>
              </a:rPr>
              <a:t>•  Future: look-ahead decoding for long-range repeats</a:t>
            </a:r>
          </a:p>
        </p:txBody>
      </p:sp>
      <p:sp>
        <p:nvSpPr>
          <p:cNvPr id="6" name="TextBox 5"/>
          <p:cNvSpPr txBox="1"/>
          <p:nvPr/>
        </p:nvSpPr>
        <p:spPr>
          <a:xfrm>
            <a:off x="822960" y="5760720"/>
            <a:ext cx="10515600" cy="731520"/>
          </a:xfrm>
          <a:prstGeom prst="rect">
            <a:avLst/>
          </a:prstGeom>
          <a:noFill/>
        </p:spPr>
        <p:txBody>
          <a:bodyPr wrap="square" anchor="t">
            <a:spAutoFit/>
          </a:bodyPr>
          <a:lstStyle/>
          <a:p>
            <a:r>
              <a:rPr sz="1500" b="0">
                <a:solidFill>
                  <a:srgbClr val="9AA2B4"/>
                </a:solidFill>
                <a:latin typeface="Calibri"/>
              </a:rPr>
              <a:t>github.com/&lt;user&gt;/DeepCodonOpt    ·    Zenodo 10.5281/zenodo.20602294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